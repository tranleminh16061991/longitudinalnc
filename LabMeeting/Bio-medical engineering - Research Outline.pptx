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73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72" r:id="rId13"/>
  </p:sldIdLst>
  <p:sldSz cx="10693400" cy="7561263"/>
  <p:notesSz cx="9874250" cy="6797675"/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7405"/>
    <a:srgbClr val="E78B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6056" autoAdjust="0"/>
  </p:normalViewPr>
  <p:slideViewPr>
    <p:cSldViewPr>
      <p:cViewPr>
        <p:scale>
          <a:sx n="50" d="100"/>
          <a:sy n="50" d="100"/>
        </p:scale>
        <p:origin x="1496" y="24"/>
      </p:cViewPr>
      <p:guideLst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65444-5612-4993-A297-66E4EA569180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70AE1-31D9-4381-959D-9050CC0FE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8306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3126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3867D-DA73-4C30-B686-2D05E2BBC364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33725" y="509588"/>
            <a:ext cx="36068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6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3126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A336D-49A4-4170-8C35-7E5BA4D4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4691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374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D941-0470-6869-D6FF-4FE74C115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751F9D-1734-0335-01F4-ACE79A5A5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59760F-D632-E6C6-C696-47E87315B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036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1812F-E1FF-853D-EB19-3E0432C2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BA1238-0BCD-BDFA-E229-78E844269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18EA2E-BBC7-B942-AD7A-261AA001D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279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F474E-D379-95FD-5B62-6B5BBE18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2BE3DC-9993-3960-AACE-1AA74C3CB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330DFF-FACE-9DF9-E55E-BF91D559D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823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957D2-EDE3-B00A-B9BE-E81BC9E98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BD876B-E017-0968-A793-AEA860C3B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297A07-20D0-2655-8BA9-A8574E938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167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CFD8B-2B2C-8B33-8F72-F0BC35C52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DC29BD-D697-E470-B96B-79B14139C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787749-9C55-F10C-ADFC-2BFEA33F3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24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F4093-505F-F273-A881-8335328ED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EC7CD4-9913-7587-F80B-9FB945F17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84906F-8FB0-C2BA-2DAC-5EA9A840C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730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196ED-8D25-2EAA-7B0A-F5EE125D2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92E61B-B483-896F-FB25-498C06013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377AAE-63FF-139A-F3D5-35447E104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107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2B852-31EA-0F4E-42A2-22646F7D1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907396-748A-51DF-A2EB-3E46605B5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C9F43D-E051-7FFB-76C3-22DC3763D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38657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79361-4D5A-EED7-9EA0-10E06725A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84A78D-58D5-9B87-522B-C1F47A077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93EA0D-1FCC-BD01-17DC-C88E25A97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472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2B424-BDB0-8FA5-FC3F-383D190A2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3C147A-D5BB-73C4-2A02-45645138E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341ACF-E180-A390-D15B-3431C7A56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3187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647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EF1-6E1E-49A8-89C7-5D842E70784B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4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78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0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FB339-8C5D-44DF-A368-296A032EEE0C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2"/>
            <a:ext cx="3386243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</p:sldLayoutIdLst>
  <p:hf hdr="0" ftr="0" dt="0"/>
  <p:txStyles>
    <p:titleStyle>
      <a:lvl1pPr algn="ctr" defTabSz="995690" rtl="0" eaLnBrk="1" latinLnBrk="1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384" indent="-373384" algn="l" defTabSz="995690" rtl="0" eaLnBrk="1" latinLnBrk="1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8998" indent="-311153" algn="l" defTabSz="995690" rtl="0" eaLnBrk="1" latinLnBrk="1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61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458" indent="-248923" algn="l" defTabSz="995690" rtl="0" eaLnBrk="1" latinLnBrk="1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303" indent="-248923" algn="l" defTabSz="995690" rtl="0" eaLnBrk="1" latinLnBrk="1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9546" y="2124447"/>
            <a:ext cx="8215370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/>
              <a:t>Longitudinal Trajectories of Resting-State </a:t>
            </a:r>
            <a:r>
              <a:rPr lang="en-US" b="1" dirty="0" err="1"/>
              <a:t>qEEG</a:t>
            </a:r>
            <a:r>
              <a:rPr lang="en-US" b="1" dirty="0"/>
              <a:t> Biomarkers in </a:t>
            </a:r>
          </a:p>
          <a:p>
            <a:pPr algn="ctr">
              <a:lnSpc>
                <a:spcPct val="150000"/>
              </a:lnSpc>
            </a:pPr>
            <a:r>
              <a:rPr lang="en-US" b="1" dirty="0"/>
              <a:t>Cognitively Normal Older Adults Stratified by Amyloid-PET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5130" y="4572719"/>
            <a:ext cx="5214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altLang="ko-KR" b="1" dirty="0">
                <a:latin typeface="fkGrotesk"/>
              </a:rPr>
              <a:t>Korean Biomedical Engineering</a:t>
            </a:r>
          </a:p>
          <a:p>
            <a:pPr algn="r"/>
            <a:r>
              <a:rPr lang="en-GB" altLang="ko-KR" sz="2000" i="0" dirty="0">
                <a:effectLst/>
                <a:latin typeface="fkGrotesk"/>
              </a:rPr>
              <a:t>2025.12.01</a:t>
            </a:r>
          </a:p>
        </p:txBody>
      </p:sp>
    </p:spTree>
    <p:extLst>
      <p:ext uri="{BB962C8B-B14F-4D97-AF65-F5344CB8AC3E}">
        <p14:creationId xmlns:p14="http://schemas.microsoft.com/office/powerpoint/2010/main" val="196292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16C60-0E5F-FB47-BF21-409143F23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2C43AF-8B44-8D4E-CC2E-347F389DCB7F}"/>
              </a:ext>
            </a:extLst>
          </p:cNvPr>
          <p:cNvSpPr txBox="1"/>
          <p:nvPr/>
        </p:nvSpPr>
        <p:spPr>
          <a:xfrm>
            <a:off x="738188" y="1332359"/>
            <a:ext cx="9145016" cy="465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Dementia burden globally is accelerating—public health priority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Amyloid-β accumulates 15–20 years before cognitive symptoms (preclinical AD)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Current diagnostics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PET, CSF are expensive, invasive, and impractical for large-scale screening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opportunity: EEG is non-invasive, portable, affordable, and captures real brain activity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Gaps: </a:t>
            </a:r>
            <a:r>
              <a:rPr lang="en-US" dirty="0"/>
              <a:t>Most EEG studies are cross-sectional; repeated-measure</a:t>
            </a:r>
            <a:br>
              <a:rPr lang="en-US" dirty="0"/>
            </a:br>
            <a:r>
              <a:rPr lang="en-US" dirty="0"/>
              <a:t>longitudinal EEG in cognitively impairment is lacking. Especially, no </a:t>
            </a:r>
            <a:br>
              <a:rPr lang="en-US" dirty="0"/>
            </a:br>
            <a:r>
              <a:rPr lang="en-US" dirty="0"/>
              <a:t>existing longitudinal study on normal Aβ+ vs Aβ− cohorts.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13A59-58AA-4865-B1C3-BADCE793D26A}"/>
              </a:ext>
            </a:extLst>
          </p:cNvPr>
          <p:cNvSpPr txBox="1"/>
          <p:nvPr/>
        </p:nvSpPr>
        <p:spPr>
          <a:xfrm>
            <a:off x="522164" y="396255"/>
            <a:ext cx="5348514" cy="29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vi-VN" sz="2400" b="1" dirty="0">
                <a:effectLst/>
              </a:rPr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421750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7390-5C82-DC63-87BF-A8D1E1860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3EDD41-D0FE-00DB-362D-B312E72FA27D}"/>
              </a:ext>
            </a:extLst>
          </p:cNvPr>
          <p:cNvSpPr txBox="1"/>
          <p:nvPr/>
        </p:nvSpPr>
        <p:spPr>
          <a:xfrm>
            <a:off x="738188" y="1332359"/>
            <a:ext cx="9145016" cy="5113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Primary aim: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Characterize longitudinal trajectories of resting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qEEG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markers and test if Aβ+ and Aβ− cognitively normal older adults show different rates of neurophysiological change over time.</a:t>
            </a:r>
          </a:p>
          <a:p>
            <a:pPr>
              <a:lnSpc>
                <a:spcPct val="150000"/>
              </a:lnSpc>
            </a:pP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Specific Objectives: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Compare baseline qEEG profiles (power, ratios, asymmetry) between </a:t>
            </a:r>
            <a:b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β−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and A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β+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Model annual rate of change (slope) in qEEG markers using mixed-effects </a:t>
            </a:r>
            <a:b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Identify earliest-diverging EEG biomarkers as candidate surrogate endpoints</a:t>
            </a: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C3D06-86CD-44F5-E52D-558370E6835C}"/>
              </a:ext>
            </a:extLst>
          </p:cNvPr>
          <p:cNvSpPr txBox="1"/>
          <p:nvPr/>
        </p:nvSpPr>
        <p:spPr>
          <a:xfrm>
            <a:off x="522164" y="396255"/>
            <a:ext cx="5348514" cy="29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vi-VN" sz="2400" b="1" dirty="0">
                <a:effectLst/>
              </a:rPr>
              <a:t>Aims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664985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B6998-4847-F43B-589D-A9CAD5F70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E3FDE8-D5B1-FD1A-8CB7-6BF9F76E02A6}"/>
              </a:ext>
            </a:extLst>
          </p:cNvPr>
          <p:cNvSpPr txBox="1"/>
          <p:nvPr/>
        </p:nvSpPr>
        <p:spPr>
          <a:xfrm>
            <a:off x="738188" y="1332359"/>
            <a:ext cx="9145016" cy="4190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/>
              <a:t>Design: </a:t>
            </a:r>
            <a:r>
              <a:rPr lang="vi-VN" dirty="0"/>
              <a:t>Prospective longitudinal observational cohort study</a:t>
            </a:r>
          </a:p>
          <a:p>
            <a:pPr>
              <a:lnSpc>
                <a:spcPct val="150000"/>
              </a:lnSpc>
            </a:pPr>
            <a:r>
              <a:rPr lang="vi-VN" b="1" dirty="0"/>
              <a:t>Participants:</a:t>
            </a:r>
            <a:endParaRPr lang="vi-VN" dirty="0"/>
          </a:p>
          <a:p>
            <a:pPr>
              <a:lnSpc>
                <a:spcPct val="150000"/>
              </a:lnSpc>
            </a:pPr>
            <a:r>
              <a:rPr lang="vi-VN" dirty="0"/>
              <a:t>- Cognitively normal (CN) older adults, age ≥ 55</a:t>
            </a:r>
          </a:p>
          <a:p>
            <a:pPr>
              <a:lnSpc>
                <a:spcPct val="150000"/>
              </a:lnSpc>
            </a:pPr>
            <a:r>
              <a:rPr lang="vi-VN" dirty="0"/>
              <a:t>- Amyloid-PET positive (A</a:t>
            </a:r>
            <a:r>
              <a:rPr lang="el-GR" dirty="0"/>
              <a:t>β+) </a:t>
            </a:r>
            <a:r>
              <a:rPr lang="vi-VN" dirty="0"/>
              <a:t>vs. negative (A</a:t>
            </a:r>
            <a:r>
              <a:rPr lang="el-GR" dirty="0"/>
              <a:t>β−)</a:t>
            </a:r>
          </a:p>
          <a:p>
            <a:pPr>
              <a:lnSpc>
                <a:spcPct val="150000"/>
              </a:lnSpc>
            </a:pPr>
            <a:r>
              <a:rPr lang="el-GR" dirty="0"/>
              <a:t>- ≥ 2 </a:t>
            </a:r>
            <a:r>
              <a:rPr lang="vi-VN" dirty="0"/>
              <a:t>valid EEG sessions over multi-year follow-up</a:t>
            </a:r>
          </a:p>
          <a:p>
            <a:pPr>
              <a:lnSpc>
                <a:spcPct val="150000"/>
              </a:lnSpc>
            </a:pPr>
            <a:r>
              <a:rPr lang="vi-VN" b="1" dirty="0"/>
              <a:t>Data Collection:</a:t>
            </a:r>
            <a:endParaRPr lang="vi-VN" dirty="0"/>
          </a:p>
          <a:p>
            <a:pPr>
              <a:lnSpc>
                <a:spcPct val="150000"/>
              </a:lnSpc>
            </a:pPr>
            <a:r>
              <a:rPr lang="vi-VN" dirty="0"/>
              <a:t>- Baseline: MMSE, SNSB cognitive battery, amyloid-PET</a:t>
            </a:r>
          </a:p>
          <a:p>
            <a:pPr>
              <a:lnSpc>
                <a:spcPct val="150000"/>
              </a:lnSpc>
            </a:pPr>
            <a:r>
              <a:rPr lang="vi-VN" dirty="0"/>
              <a:t>- EEG: Resting-state (eyes-closed, 5–10 min) at baseline and annual follow-ups</a:t>
            </a:r>
          </a:p>
          <a:p>
            <a:pPr>
              <a:lnSpc>
                <a:spcPct val="150000"/>
              </a:lnSpc>
            </a:pPr>
            <a:r>
              <a:rPr lang="vi-VN" dirty="0"/>
              <a:t>- Optional future: Sensory/Attention tasks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9B46E-6DF8-6EC5-0349-8D18167A494E}"/>
              </a:ext>
            </a:extLst>
          </p:cNvPr>
          <p:cNvSpPr txBox="1"/>
          <p:nvPr/>
        </p:nvSpPr>
        <p:spPr>
          <a:xfrm>
            <a:off x="522164" y="324247"/>
            <a:ext cx="5348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Study Design</a:t>
            </a:r>
          </a:p>
        </p:txBody>
      </p:sp>
    </p:spTree>
    <p:extLst>
      <p:ext uri="{BB962C8B-B14F-4D97-AF65-F5344CB8AC3E}">
        <p14:creationId xmlns:p14="http://schemas.microsoft.com/office/powerpoint/2010/main" val="193796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28BE6-999E-6578-AD85-0F386DFD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D866F6-0692-CA62-E3FB-32A90DB9B0F8}"/>
              </a:ext>
            </a:extLst>
          </p:cNvPr>
          <p:cNvSpPr txBox="1"/>
          <p:nvPr/>
        </p:nvSpPr>
        <p:spPr>
          <a:xfrm>
            <a:off x="666180" y="972319"/>
            <a:ext cx="9145016" cy="6036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/>
              <a:t>Electrode Setup (10–20 system):</a:t>
            </a:r>
            <a:endParaRPr lang="vi-VN" dirty="0"/>
          </a:p>
          <a:p>
            <a:pPr>
              <a:lnSpc>
                <a:spcPct val="150000"/>
              </a:lnSpc>
            </a:pPr>
            <a:r>
              <a:rPr lang="vi-VN" dirty="0"/>
              <a:t>- Frontal: Fp1/2, F3/4, Fz</a:t>
            </a:r>
          </a:p>
          <a:p>
            <a:pPr>
              <a:lnSpc>
                <a:spcPct val="150000"/>
              </a:lnSpc>
            </a:pPr>
            <a:r>
              <a:rPr lang="vi-VN" dirty="0"/>
              <a:t>- Central: C3/4, Cz</a:t>
            </a:r>
          </a:p>
          <a:p>
            <a:pPr>
              <a:lnSpc>
                <a:spcPct val="150000"/>
              </a:lnSpc>
            </a:pPr>
            <a:r>
              <a:rPr lang="vi-VN" dirty="0"/>
              <a:t>- Parietal/Occipital: P3/4, Pz, O1/2</a:t>
            </a:r>
          </a:p>
          <a:p>
            <a:pPr>
              <a:lnSpc>
                <a:spcPct val="150000"/>
              </a:lnSpc>
            </a:pPr>
            <a:r>
              <a:rPr lang="vi-VN" b="1" dirty="0"/>
              <a:t>Reference Strategy:</a:t>
            </a:r>
          </a:p>
          <a:p>
            <a:pPr>
              <a:lnSpc>
                <a:spcPct val="150000"/>
              </a:lnSpc>
            </a:pPr>
            <a:r>
              <a:rPr lang="vi-VN" dirty="0"/>
              <a:t>- Initial: Linked-ear or mastoid reference</a:t>
            </a:r>
          </a:p>
          <a:p>
            <a:pPr>
              <a:lnSpc>
                <a:spcPct val="150000"/>
              </a:lnSpc>
            </a:pPr>
            <a:r>
              <a:rPr lang="vi-VN" dirty="0"/>
              <a:t>- Re-reference to linked mastoids (midline components) or average reference (topographic mapping)</a:t>
            </a:r>
          </a:p>
          <a:p>
            <a:pPr>
              <a:lnSpc>
                <a:spcPct val="150000"/>
              </a:lnSpc>
            </a:pPr>
            <a:r>
              <a:rPr lang="vi-VN" dirty="0"/>
              <a:t>- Consistent referencing across all visits for longitudinal accuracy</a:t>
            </a:r>
          </a:p>
          <a:p>
            <a:pPr>
              <a:lnSpc>
                <a:spcPct val="150000"/>
              </a:lnSpc>
            </a:pPr>
            <a:r>
              <a:rPr lang="vi-VN" b="1" dirty="0"/>
              <a:t>Sampling &amp; Filtering:</a:t>
            </a:r>
            <a:endParaRPr lang="vi-VN" dirty="0"/>
          </a:p>
          <a:p>
            <a:pPr>
              <a:lnSpc>
                <a:spcPct val="150000"/>
              </a:lnSpc>
            </a:pPr>
            <a:r>
              <a:rPr lang="vi-VN" dirty="0"/>
              <a:t>- Sampling rate: 250–512 Hz</a:t>
            </a:r>
          </a:p>
          <a:p>
            <a:pPr>
              <a:lnSpc>
                <a:spcPct val="150000"/>
              </a:lnSpc>
            </a:pPr>
            <a:r>
              <a:rPr lang="vi-VN" dirty="0"/>
              <a:t>- Band-pass filter: 0.5–45 Hz</a:t>
            </a:r>
          </a:p>
          <a:p>
            <a:pPr>
              <a:lnSpc>
                <a:spcPct val="150000"/>
              </a:lnSpc>
            </a:pPr>
            <a:r>
              <a:rPr lang="vi-VN" dirty="0"/>
              <a:t>- Notch filter: 50/60 Hz (line noise)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1AAD4-E51B-A2C3-C831-C7997A9532E6}"/>
              </a:ext>
            </a:extLst>
          </p:cNvPr>
          <p:cNvSpPr txBox="1"/>
          <p:nvPr/>
        </p:nvSpPr>
        <p:spPr>
          <a:xfrm>
            <a:off x="522164" y="324247"/>
            <a:ext cx="5348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EEG Recording &amp; Preprocessing Strategy</a:t>
            </a:r>
          </a:p>
        </p:txBody>
      </p:sp>
    </p:spTree>
    <p:extLst>
      <p:ext uri="{BB962C8B-B14F-4D97-AF65-F5344CB8AC3E}">
        <p14:creationId xmlns:p14="http://schemas.microsoft.com/office/powerpoint/2010/main" val="4082264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0420B-2D36-E283-2D23-26147B01F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938CBF-3B9B-DC51-6D3D-0412A0EAB016}"/>
              </a:ext>
            </a:extLst>
          </p:cNvPr>
          <p:cNvSpPr txBox="1"/>
          <p:nvPr/>
        </p:nvSpPr>
        <p:spPr>
          <a:xfrm>
            <a:off x="666180" y="972319"/>
            <a:ext cx="9145016" cy="5575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/>
              <a:t>Artifact Types (per Prof. Kim's framework):</a:t>
            </a:r>
            <a:endParaRPr lang="vi-VN" dirty="0"/>
          </a:p>
          <a:p>
            <a:pPr>
              <a:lnSpc>
                <a:spcPct val="150000"/>
              </a:lnSpc>
            </a:pPr>
            <a:r>
              <a:rPr lang="vi-VN" dirty="0"/>
              <a:t>- Ocular: Eye blinks, saccades → Independent component analysis removal </a:t>
            </a:r>
          </a:p>
          <a:p>
            <a:pPr>
              <a:lnSpc>
                <a:spcPct val="150000"/>
              </a:lnSpc>
            </a:pPr>
            <a:r>
              <a:rPr lang="vi-VN" dirty="0"/>
              <a:t>- Muscle: Jaw, neck tension → EMG thresholding</a:t>
            </a:r>
          </a:p>
          <a:p>
            <a:pPr>
              <a:lnSpc>
                <a:spcPct val="150000"/>
              </a:lnSpc>
            </a:pPr>
            <a:r>
              <a:rPr lang="vi-VN" dirty="0"/>
              <a:t>- Technical: Electrode pops, line noise → interpolation/filtering</a:t>
            </a:r>
          </a:p>
          <a:p>
            <a:pPr>
              <a:lnSpc>
                <a:spcPct val="150000"/>
              </a:lnSpc>
            </a:pPr>
            <a:r>
              <a:rPr lang="vi-VN" dirty="0"/>
              <a:t>- Physiological: ECG, respiration → frequency-specific rejection</a:t>
            </a:r>
          </a:p>
          <a:p>
            <a:pPr>
              <a:lnSpc>
                <a:spcPct val="150000"/>
              </a:lnSpc>
            </a:pPr>
            <a:br>
              <a:rPr lang="vi-VN" dirty="0"/>
            </a:br>
            <a:r>
              <a:rPr lang="vi-VN" b="1" dirty="0"/>
              <a:t>Quality ontrol Steps:</a:t>
            </a:r>
            <a:endParaRPr lang="vi-VN" dirty="0"/>
          </a:p>
          <a:p>
            <a:pPr>
              <a:lnSpc>
                <a:spcPct val="150000"/>
              </a:lnSpc>
            </a:pPr>
            <a:r>
              <a:rPr lang="vi-VN" dirty="0"/>
              <a:t>- Bad-channel interpolation</a:t>
            </a:r>
          </a:p>
          <a:p>
            <a:pPr>
              <a:lnSpc>
                <a:spcPct val="150000"/>
              </a:lnSpc>
            </a:pPr>
            <a:r>
              <a:rPr lang="vi-VN" dirty="0"/>
              <a:t>- ICA for ocular/muscle components</a:t>
            </a:r>
          </a:p>
          <a:p>
            <a:pPr>
              <a:lnSpc>
                <a:spcPct val="150000"/>
              </a:lnSpc>
            </a:pPr>
            <a:r>
              <a:rPr lang="vi-VN" dirty="0"/>
              <a:t>- Epoch rejection: amplitude thresholds, kurtosis</a:t>
            </a:r>
          </a:p>
          <a:p>
            <a:pPr>
              <a:lnSpc>
                <a:spcPct val="150000"/>
              </a:lnSpc>
            </a:pPr>
            <a:r>
              <a:rPr lang="vi-VN" dirty="0"/>
              <a:t>- Minimum clean data requirement: ≥ 3–5 minutes per visit</a:t>
            </a:r>
          </a:p>
          <a:p>
            <a:pPr>
              <a:lnSpc>
                <a:spcPct val="150000"/>
              </a:lnSpc>
            </a:pPr>
            <a:r>
              <a:rPr lang="vi-VN" dirty="0"/>
              <a:t>- Per-subject quality flag: outlier_extreme (|z| &gt; 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746765-1167-8AD7-E395-DE3D338F4891}"/>
              </a:ext>
            </a:extLst>
          </p:cNvPr>
          <p:cNvSpPr txBox="1"/>
          <p:nvPr/>
        </p:nvSpPr>
        <p:spPr>
          <a:xfrm>
            <a:off x="522164" y="324247"/>
            <a:ext cx="5348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Signal Cleaning &amp; quality control</a:t>
            </a:r>
          </a:p>
        </p:txBody>
      </p:sp>
    </p:spTree>
    <p:extLst>
      <p:ext uri="{BB962C8B-B14F-4D97-AF65-F5344CB8AC3E}">
        <p14:creationId xmlns:p14="http://schemas.microsoft.com/office/powerpoint/2010/main" val="8928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A3EDB-41C1-4772-08FE-3E3A1BA81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8199C4-5932-9E58-A58B-5F9974606B97}"/>
              </a:ext>
            </a:extLst>
          </p:cNvPr>
          <p:cNvSpPr txBox="1"/>
          <p:nvPr/>
        </p:nvSpPr>
        <p:spPr>
          <a:xfrm>
            <a:off x="666180" y="972319"/>
            <a:ext cx="9145016" cy="5575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/>
              <a:t>Bands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Delta (0.5–4 Hz): Slowing marker (AD)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Theta (4–8 Hz): Memory, attention; ↑ in MCI/AD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Alpha (8–13 Hz): Normal awake state; ↓ in AD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Beta (13–30 Hz)</a:t>
            </a:r>
            <a:r>
              <a:rPr lang="en-US" dirty="0"/>
              <a:t>:</a:t>
            </a:r>
            <a:r>
              <a:rPr lang="vi-VN" dirty="0"/>
              <a:t> Alertness, focus; ↓ in AD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Gamma </a:t>
            </a:r>
            <a:r>
              <a:rPr lang="vi-VN" b="1" dirty="0"/>
              <a:t>(</a:t>
            </a:r>
            <a:r>
              <a:rPr lang="vi-VN" dirty="0"/>
              <a:t>30–45 Hz) Higher cognition; task-dependent </a:t>
            </a:r>
          </a:p>
          <a:p>
            <a:pPr>
              <a:lnSpc>
                <a:spcPct val="150000"/>
              </a:lnSpc>
            </a:pPr>
            <a:r>
              <a:rPr lang="vi-VN" b="1" dirty="0"/>
              <a:t>Spectral Ratios:</a:t>
            </a:r>
            <a:endParaRPr lang="vi-VN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TBR (Theta/Beta): Attention marker; higher = more slowing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ABR (Alpha/Beta):** Neurophysiological slowing index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SPR ([Delta+Theta]/[Alpha+Beta]): Global slow-power ratio; sensitive to AD progression</a:t>
            </a:r>
          </a:p>
          <a:p>
            <a:pPr>
              <a:lnSpc>
                <a:spcPct val="150000"/>
              </a:lnSpc>
            </a:pPr>
            <a:endParaRPr lang="vi-V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E1182-270C-ADE0-CF33-DCF62E08B15F}"/>
              </a:ext>
            </a:extLst>
          </p:cNvPr>
          <p:cNvSpPr txBox="1"/>
          <p:nvPr/>
        </p:nvSpPr>
        <p:spPr>
          <a:xfrm>
            <a:off x="522164" y="324247"/>
            <a:ext cx="6840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qEEG</a:t>
            </a:r>
            <a:r>
              <a:rPr lang="en-US" b="1" dirty="0"/>
              <a:t> Features: Band Power &amp; Spectral Ratios</a:t>
            </a:r>
          </a:p>
        </p:txBody>
      </p:sp>
    </p:spTree>
    <p:extLst>
      <p:ext uri="{BB962C8B-B14F-4D97-AF65-F5344CB8AC3E}">
        <p14:creationId xmlns:p14="http://schemas.microsoft.com/office/powerpoint/2010/main" val="324027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A8D6C-693B-2542-6412-EC2FAE414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20808F-8C12-35CC-6C70-B22119ADF9E2}"/>
              </a:ext>
            </a:extLst>
          </p:cNvPr>
          <p:cNvSpPr txBox="1"/>
          <p:nvPr/>
        </p:nvSpPr>
        <p:spPr>
          <a:xfrm>
            <a:off x="666180" y="992976"/>
            <a:ext cx="9145016" cy="5575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/>
              <a:t>Asymmetry Indices:</a:t>
            </a:r>
            <a:endParaRPr lang="vi-VN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FAA (Frontal Alpha Asymmetry):</a:t>
            </a:r>
            <a:r>
              <a:rPr lang="vi-VN" dirty="0"/>
              <a:t> ln(F4_</a:t>
            </a:r>
            <a:r>
              <a:rPr lang="el-GR" dirty="0"/>
              <a:t>α) − </a:t>
            </a:r>
            <a:r>
              <a:rPr lang="vi-VN" dirty="0"/>
              <a:t>ln(F3_</a:t>
            </a:r>
            <a:r>
              <a:rPr lang="el-GR" dirty="0"/>
              <a:t>α)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dirty="0"/>
              <a:t>Reflects lateralized prefrontal engagement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dirty="0"/>
              <a:t>Altered in depression, mild cognitive impairment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FBA (Frontal Beta Asymmetry):</a:t>
            </a:r>
            <a:r>
              <a:rPr lang="vi-VN" dirty="0"/>
              <a:t> ln(F4_</a:t>
            </a:r>
            <a:r>
              <a:rPr lang="el-GR" dirty="0"/>
              <a:t>β) − </a:t>
            </a:r>
            <a:r>
              <a:rPr lang="vi-VN" dirty="0"/>
              <a:t>ln(F3_</a:t>
            </a:r>
            <a:r>
              <a:rPr lang="el-GR" dirty="0"/>
              <a:t>β)</a:t>
            </a:r>
          </a:p>
          <a:p>
            <a:pPr>
              <a:lnSpc>
                <a:spcPct val="150000"/>
              </a:lnSpc>
            </a:pPr>
            <a:r>
              <a:rPr lang="vi-VN" b="1" dirty="0"/>
              <a:t>Peak Frequency (Fpeak):</a:t>
            </a:r>
            <a:endParaRPr lang="vi-VN" dirty="0"/>
          </a:p>
          <a:p>
            <a:pPr>
              <a:lnSpc>
                <a:spcPct val="150000"/>
              </a:lnSpc>
            </a:pPr>
            <a:r>
              <a:rPr lang="vi-VN" dirty="0"/>
              <a:t>- Alpha peak at posterior sites (Pz, Oz)</a:t>
            </a:r>
          </a:p>
          <a:p>
            <a:pPr>
              <a:lnSpc>
                <a:spcPct val="150000"/>
              </a:lnSpc>
            </a:pPr>
            <a:r>
              <a:rPr lang="vi-VN" dirty="0"/>
              <a:t>- Higher frequency = better cognitive status; Lower = aging/slowing</a:t>
            </a:r>
          </a:p>
          <a:p>
            <a:pPr>
              <a:lnSpc>
                <a:spcPct val="150000"/>
              </a:lnSpc>
            </a:pPr>
            <a:r>
              <a:rPr lang="vi-VN" dirty="0"/>
              <a:t>- "Brain age" estimate from Fpeak</a:t>
            </a:r>
          </a:p>
          <a:p>
            <a:pPr>
              <a:lnSpc>
                <a:spcPct val="150000"/>
              </a:lnSpc>
            </a:pPr>
            <a:r>
              <a:rPr lang="vi-VN" b="1" dirty="0"/>
              <a:t>Median Frequency (MEF 4–50 Hz):</a:t>
            </a:r>
            <a:endParaRPr lang="vi-VN" dirty="0"/>
          </a:p>
          <a:p>
            <a:pPr>
              <a:lnSpc>
                <a:spcPct val="150000"/>
              </a:lnSpc>
            </a:pPr>
            <a:r>
              <a:rPr lang="vi-VN" dirty="0"/>
              <a:t>- Global slowing marker</a:t>
            </a:r>
          </a:p>
          <a:p>
            <a:pPr>
              <a:lnSpc>
                <a:spcPct val="150000"/>
              </a:lnSpc>
            </a:pPr>
            <a:r>
              <a:rPr lang="vi-VN" dirty="0"/>
              <a:t>- Known to decrease with age and dementia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AB12C-709A-A11B-5F04-DB6F1A0AB1CB}"/>
              </a:ext>
            </a:extLst>
          </p:cNvPr>
          <p:cNvSpPr txBox="1"/>
          <p:nvPr/>
        </p:nvSpPr>
        <p:spPr>
          <a:xfrm>
            <a:off x="522164" y="324247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Advanced Markers: Asymmetry &amp; Peak Frequency</a:t>
            </a: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81573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8394E-5629-2608-C5E8-ABDF6EA58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B78E94-15D7-961A-43BA-D75B3BA7C6B8}"/>
              </a:ext>
            </a:extLst>
          </p:cNvPr>
          <p:cNvSpPr txBox="1"/>
          <p:nvPr/>
        </p:nvSpPr>
        <p:spPr>
          <a:xfrm>
            <a:off x="810196" y="762144"/>
            <a:ext cx="9325036" cy="6036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/>
              <a:t>Data Cleaning &amp; Integration</a:t>
            </a:r>
            <a:endParaRPr lang="vi-VN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Import raw EEG and clinical/PET 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Parse visit dates, derive elapsed_years from first EEG visit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Standardize IDs, demographics, diagnosis labels</a:t>
            </a:r>
          </a:p>
          <a:p>
            <a:pPr>
              <a:lnSpc>
                <a:spcPct val="150000"/>
              </a:lnSpc>
            </a:pPr>
            <a:r>
              <a:rPr lang="vi-VN" b="1" dirty="0"/>
              <a:t>EEG QC &amp; Feature Extraction</a:t>
            </a:r>
            <a:endParaRPr lang="vi-VN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Apply preprocessing pipeline (referencing, filtering, artifact removal, epoching)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Compute PSD (Welch), integrate band powers, compute ratios/asymmetry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Flag outliers; create "outlier-clean" dataset</a:t>
            </a:r>
          </a:p>
          <a:p>
            <a:pPr>
              <a:lnSpc>
                <a:spcPct val="150000"/>
              </a:lnSpc>
            </a:pPr>
            <a:r>
              <a:rPr lang="vi-VN" b="1" dirty="0"/>
              <a:t>Longitudinal Dataset Assembly</a:t>
            </a:r>
            <a:endParaRPr lang="vi-VN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Merge cleaned EEG features with clinical/PET 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Restrict to CN participants with ≥2 valid EEG visits, AGE ≥ 55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Define Amyloid_Status (A</a:t>
            </a:r>
            <a:r>
              <a:rPr lang="el-GR" dirty="0"/>
              <a:t>β− </a:t>
            </a:r>
            <a:r>
              <a:rPr lang="vi-VN" dirty="0"/>
              <a:t>reference, A</a:t>
            </a:r>
            <a:r>
              <a:rPr lang="el-GR" dirty="0"/>
              <a:t>β+)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MICE imputation for cognitive scores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273085-6180-3955-CCB2-E3D689320479}"/>
              </a:ext>
            </a:extLst>
          </p:cNvPr>
          <p:cNvSpPr txBox="1"/>
          <p:nvPr/>
        </p:nvSpPr>
        <p:spPr>
          <a:xfrm>
            <a:off x="522164" y="324247"/>
            <a:ext cx="72728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Longitudinal Data Assembly &amp; Preprocessing</a:t>
            </a:r>
          </a:p>
        </p:txBody>
      </p:sp>
    </p:spTree>
    <p:extLst>
      <p:ext uri="{BB962C8B-B14F-4D97-AF65-F5344CB8AC3E}">
        <p14:creationId xmlns:p14="http://schemas.microsoft.com/office/powerpoint/2010/main" val="1121849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62856-8DD5-B9F0-53EA-78E07824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43D9F4-2CD5-3214-3109-CF3F73D79DEE}"/>
              </a:ext>
            </a:extLst>
          </p:cNvPr>
          <p:cNvSpPr txBox="1"/>
          <p:nvPr/>
        </p:nvSpPr>
        <p:spPr>
          <a:xfrm>
            <a:off x="684182" y="900311"/>
            <a:ext cx="9325036" cy="5382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vi-VN" b="1" dirty="0"/>
              <a:t>Linear Mixed-Effects Modeling</a:t>
            </a: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vi-VN" dirty="0"/>
              <a:t>Model specification: </a:t>
            </a:r>
            <a:r>
              <a:rPr lang="en-US" b="1" i="1" dirty="0"/>
              <a:t>EEG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vi-VN" b="1" i="1" dirty="0"/>
              <a:t>arker ~ elapsed_years ×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Amyloidstatus</a:t>
            </a:r>
            <a:r>
              <a:rPr lang="en-US" b="1" i="1" dirty="0"/>
              <a:t> </a:t>
            </a:r>
            <a:r>
              <a:rPr lang="vi-VN" b="1" i="1" dirty="0"/>
              <a:t>+ Covariat factors </a:t>
            </a:r>
            <a:r>
              <a:rPr lang="vi-VN" b="1" i="1" dirty="0">
                <a:solidFill>
                  <a:schemeClr val="accent1"/>
                </a:solidFill>
              </a:rPr>
              <a:t>+ (1 + elapsed_years | object ID)</a:t>
            </a: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vi-VN" dirty="0"/>
              <a:t>Fitted using lmerTest::lmer() for all EEG markers</a:t>
            </a: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vi-VN" dirty="0"/>
              <a:t>Random intercepts + random slopes per subject to capture individual </a:t>
            </a:r>
            <a:br>
              <a:rPr lang="vi-VN" dirty="0"/>
            </a:br>
            <a:r>
              <a:rPr lang="vi-VN" dirty="0"/>
              <a:t>heterogeneity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vi-VN" b="1" dirty="0"/>
              <a:t>Statistical Inference Strategy</a:t>
            </a: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vi-VN" dirty="0"/>
              <a:t>Test:</a:t>
            </a:r>
            <a:r>
              <a:rPr lang="vi-VN" b="1" i="1" dirty="0"/>
              <a:t> Likelihood Ratio Test </a:t>
            </a:r>
            <a:r>
              <a:rPr lang="vi-VN" dirty="0"/>
              <a:t>(LRT) comparing full vs reduced models (no interaction term) &amp; </a:t>
            </a:r>
            <a:r>
              <a:rPr lang="vi-VN" b="1" i="1" dirty="0"/>
              <a:t>Wald test </a:t>
            </a:r>
            <a:r>
              <a:rPr lang="vi-VN" dirty="0"/>
              <a:t>for interaction coefficients (descriptive)</a:t>
            </a: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vi-VN" dirty="0"/>
              <a:t>Effect size: Cohen's d from standardized slope differences</a:t>
            </a: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vi-VN" dirty="0"/>
              <a:t>Reporting: Annual slopes per group, 95% CI, both LRT and Wald p-values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CE75C5-C8DF-1FA0-16C5-349D2C5C491E}"/>
              </a:ext>
            </a:extLst>
          </p:cNvPr>
          <p:cNvSpPr txBox="1"/>
          <p:nvPr/>
        </p:nvSpPr>
        <p:spPr>
          <a:xfrm>
            <a:off x="522164" y="324247"/>
            <a:ext cx="72728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Trajectory Models</a:t>
            </a:r>
          </a:p>
        </p:txBody>
      </p:sp>
    </p:spTree>
    <p:extLst>
      <p:ext uri="{BB962C8B-B14F-4D97-AF65-F5344CB8AC3E}">
        <p14:creationId xmlns:p14="http://schemas.microsoft.com/office/powerpoint/2010/main" val="2256478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A3550-437C-969F-7B8D-CE28C5FA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7C1EF8-2E6D-5F6E-8442-8F62DF48F3A9}"/>
              </a:ext>
            </a:extLst>
          </p:cNvPr>
          <p:cNvSpPr txBox="1"/>
          <p:nvPr/>
        </p:nvSpPr>
        <p:spPr>
          <a:xfrm>
            <a:off x="684182" y="900311"/>
            <a:ext cx="9325036" cy="326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/>
              <a:t>Hypothesis:</a:t>
            </a:r>
            <a:endParaRPr lang="vi-VN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A</a:t>
            </a:r>
            <a:r>
              <a:rPr lang="el-GR" dirty="0"/>
              <a:t>β+ </a:t>
            </a:r>
            <a:r>
              <a:rPr lang="vi-VN" dirty="0"/>
              <a:t>CN will show faster annual slowing (↑ theta/SPR slope, ↓ alpha/beta/Fpeak slopes)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A</a:t>
            </a:r>
            <a:r>
              <a:rPr lang="el-GR" dirty="0"/>
              <a:t>β− </a:t>
            </a:r>
            <a:r>
              <a:rPr lang="vi-VN" dirty="0"/>
              <a:t>CN will show minimal or stable qEEG trajectories</a:t>
            </a:r>
          </a:p>
          <a:p>
            <a:pPr>
              <a:lnSpc>
                <a:spcPct val="150000"/>
              </a:lnSpc>
            </a:pPr>
            <a:r>
              <a:rPr lang="vi-VN" b="1" dirty="0"/>
              <a:t>Clinical Implications:</a:t>
            </a:r>
            <a:endParaRPr lang="vi-VN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Serial qEEG could identify preclinical individuals most likely to progress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Cost-effective alternative for frequent monitoring vs. repeated PET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B936EE-F1C0-BE19-D626-C904411FB2E8}"/>
              </a:ext>
            </a:extLst>
          </p:cNvPr>
          <p:cNvSpPr txBox="1"/>
          <p:nvPr/>
        </p:nvSpPr>
        <p:spPr>
          <a:xfrm>
            <a:off x="522164" y="324247"/>
            <a:ext cx="72728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Anticipated Findings &amp; Clinical Meaning</a:t>
            </a:r>
          </a:p>
        </p:txBody>
      </p:sp>
    </p:spTree>
    <p:extLst>
      <p:ext uri="{BB962C8B-B14F-4D97-AF65-F5344CB8AC3E}">
        <p14:creationId xmlns:p14="http://schemas.microsoft.com/office/powerpoint/2010/main" val="378858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4734" y="2700511"/>
            <a:ext cx="8215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i="0" dirty="0">
                <a:solidFill>
                  <a:schemeClr val="tx2"/>
                </a:solidFill>
                <a:effectLst/>
                <a:latin typeface="fkGrotesk"/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975736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1528</TotalTime>
  <Words>993</Words>
  <Application>Microsoft Office PowerPoint</Application>
  <PresentationFormat>Custom</PresentationFormat>
  <Paragraphs>107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맑은 고딕</vt:lpstr>
      <vt:lpstr>Arial</vt:lpstr>
      <vt:lpstr>Courier New</vt:lpstr>
      <vt:lpstr>fkGrotesk</vt:lpstr>
      <vt:lpstr>HY견고딕</vt:lpstr>
      <vt:lpstr>HY중고딕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XP SP3 FINAL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Minh Tran</cp:lastModifiedBy>
  <cp:revision>69</cp:revision>
  <cp:lastPrinted>2012-01-03T07:03:32Z</cp:lastPrinted>
  <dcterms:created xsi:type="dcterms:W3CDTF">2011-12-29T06:45:05Z</dcterms:created>
  <dcterms:modified xsi:type="dcterms:W3CDTF">2025-12-01T14:25:15Z</dcterms:modified>
</cp:coreProperties>
</file>