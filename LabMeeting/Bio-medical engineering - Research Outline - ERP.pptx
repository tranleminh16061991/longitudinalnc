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3" r:id="rId3"/>
    <p:sldId id="284" r:id="rId4"/>
    <p:sldId id="285" r:id="rId5"/>
    <p:sldId id="286" r:id="rId6"/>
    <p:sldId id="275" r:id="rId7"/>
    <p:sldId id="277" r:id="rId8"/>
    <p:sldId id="287" r:id="rId9"/>
    <p:sldId id="288" r:id="rId10"/>
    <p:sldId id="289" r:id="rId11"/>
    <p:sldId id="280" r:id="rId12"/>
    <p:sldId id="281" r:id="rId13"/>
    <p:sldId id="272" r:id="rId14"/>
  </p:sldIdLst>
  <p:sldSz cx="10693400" cy="7561263"/>
  <p:notesSz cx="9874250" cy="6797675"/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405"/>
    <a:srgbClr val="E78B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6056" autoAdjust="0"/>
  </p:normalViewPr>
  <p:slideViewPr>
    <p:cSldViewPr>
      <p:cViewPr varScale="1">
        <p:scale>
          <a:sx n="44" d="100"/>
          <a:sy n="44" d="100"/>
        </p:scale>
        <p:origin x="1704" y="44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65444-5612-4993-A297-66E4EA569180}" type="datetime1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70AE1-31D9-4381-959D-9050CC0FE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306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6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867D-DA73-4C30-B686-2D05E2BBC364}" type="datetime1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33725" y="509588"/>
            <a:ext cx="36068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6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336D-49A4-4170-8C35-7E5BA4D4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691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374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D941-0470-6869-D6FF-4FE74C115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751F9D-1734-0335-01F4-ACE79A5A5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59760F-D632-E6C6-C696-47E87315B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036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2A13C-C7D4-A841-C55D-FA2AFC43E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805421-0EEF-5ADD-5AC5-9C16E703F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9E3C46-5ACC-DB71-C45B-CF7ECC813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Existing predictors are demographic, lifestyle, or structural—not functional/dynamic biomarkers.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5353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B848F-0F44-C29A-F84F-F69D81EF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D9273F-DFBF-63EE-D755-3F0B80415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437CAF-98C0-B903-0253-6783351F0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ERP variability/asymmetry have never been tested longitudinally in MCI reversion.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576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24917-F5F0-96A7-7613-034C8E856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941C1F-3539-DAD6-E18A-0AEB656DB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AE2EDF-1DAD-7F88-3E18-03EA24369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625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1812F-E1FF-853D-EB19-3E0432C2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BA1238-0BCD-BDFA-E229-78E844269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18EA2E-BBC7-B942-AD7A-261AA001D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take-home: MCI is NOT a binary "prodrome to dementia" but a dynamic, reversible intermediate state with three clinical trajectories.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3279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957D2-EDE3-B00A-B9BE-E81BC9E9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BD876B-E017-0968-A793-AEA860C3B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297A07-20D0-2655-8BA9-A8574E938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167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A1021-283F-8E60-CF20-014C3766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9BA598-7AD6-AC04-2234-FA172CEB9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0B0AA5-A9BC-1242-E7EE-90D8ED0B3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161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A757-FB99-A4A4-EB1D-1DE16A0D9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C14EC9-D6E9-65BC-EF5D-E97888B3B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9EB2E4-23DD-CE51-94EF-2DFFE961F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025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A5C6-CE0E-FB8E-AF47-E79F73496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1B1127-73B7-2BB1-0C5A-60C810DDB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A540EB-0EA8-7528-C14D-99BC2BB30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624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196ED-8D25-2EAA-7B0A-F5EE125D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92E61B-B483-896F-FB25-498C06013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377AAE-63FF-139A-F3D5-35447E104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107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2B852-31EA-0F4E-42A2-22646F7D1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907396-748A-51DF-A2EB-3E46605B5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C9F43D-E051-7FFB-76C3-22DC3763D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38657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647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EF1-6E1E-49A8-89C7-5D842E70784B}" type="datetime1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8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FB339-8C5D-44DF-A368-296A032EEE0C}" type="datetime1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ftr="0" dt="0"/>
  <p:txStyles>
    <p:titleStyle>
      <a:lvl1pPr algn="ctr" defTabSz="995690" rtl="0" eaLnBrk="1" latinLnBrk="1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9546" y="2124447"/>
            <a:ext cx="8215370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/>
              <a:t>Longitudinal sensory and attention ERP markers </a:t>
            </a:r>
            <a:br>
              <a:rPr lang="en-US" sz="2400" b="1" dirty="0"/>
            </a:br>
            <a:r>
              <a:rPr lang="en-US" sz="2400" b="1" dirty="0"/>
              <a:t>in Stable vs Reverted MCI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5130" y="4572719"/>
            <a:ext cx="5214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altLang="ko-KR" b="1" dirty="0">
                <a:latin typeface="fkGrotesk"/>
              </a:rPr>
              <a:t>Korean Biomedical Engineering</a:t>
            </a:r>
          </a:p>
          <a:p>
            <a:pPr algn="r"/>
            <a:r>
              <a:rPr lang="en-GB" altLang="ko-KR" sz="2000" i="0" dirty="0">
                <a:effectLst/>
                <a:latin typeface="fkGrotesk"/>
              </a:rPr>
              <a:t>2025.12.01</a:t>
            </a:r>
          </a:p>
        </p:txBody>
      </p:sp>
    </p:spTree>
    <p:extLst>
      <p:ext uri="{BB962C8B-B14F-4D97-AF65-F5344CB8AC3E}">
        <p14:creationId xmlns:p14="http://schemas.microsoft.com/office/powerpoint/2010/main" val="196292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16C60-0E5F-FB47-BF21-409143F23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2C43AF-8B44-8D4E-CC2E-347F389DCB7F}"/>
              </a:ext>
            </a:extLst>
          </p:cNvPr>
          <p:cNvSpPr txBox="1"/>
          <p:nvPr/>
        </p:nvSpPr>
        <p:spPr>
          <a:xfrm>
            <a:off x="551763" y="1044327"/>
            <a:ext cx="9329536" cy="2341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/>
              <a:t>MCI is dynamic</a:t>
            </a:r>
            <a:endParaRPr lang="en-US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MCI is a heterogeneous, intermediate state between normal aging and dementia.​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Outcomes: progression, stable MCI, or reversion to normal cognition.​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Reversion is common (20–45% in community cohorts), not a rare artefact.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13A59-58AA-4865-B1C3-BADCE793D26A}"/>
              </a:ext>
            </a:extLst>
          </p:cNvPr>
          <p:cNvSpPr txBox="1"/>
          <p:nvPr/>
        </p:nvSpPr>
        <p:spPr>
          <a:xfrm>
            <a:off x="522164" y="396255"/>
            <a:ext cx="5348514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vi-VN" sz="2400" b="1" dirty="0">
                <a:effectLst/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421750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B661A-7CDC-30BA-83E4-DDE1131BA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9BACD9-1124-8BC2-A683-42E75D915A97}"/>
              </a:ext>
            </a:extLst>
          </p:cNvPr>
          <p:cNvSpPr txBox="1"/>
          <p:nvPr/>
        </p:nvSpPr>
        <p:spPr>
          <a:xfrm>
            <a:off x="774192" y="1116335"/>
            <a:ext cx="9145016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Reverters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show better baseline cognition and more favorable MRI/CSF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profiles than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StableMCI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.​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have much lower subsequent AD dementia risk; sometimes similar to stable normals.​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Lifestyle and activity patterns (driving, gardening, social/cognitive activities) predict reversion.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D1128-302E-31D5-3348-5C44FC2FD302}"/>
              </a:ext>
            </a:extLst>
          </p:cNvPr>
          <p:cNvSpPr txBox="1"/>
          <p:nvPr/>
        </p:nvSpPr>
        <p:spPr>
          <a:xfrm>
            <a:off x="522164" y="396255"/>
            <a:ext cx="74888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Why Reverted MCI matters?</a:t>
            </a:r>
          </a:p>
        </p:txBody>
      </p:sp>
    </p:spTree>
    <p:extLst>
      <p:ext uri="{BB962C8B-B14F-4D97-AF65-F5344CB8AC3E}">
        <p14:creationId xmlns:p14="http://schemas.microsoft.com/office/powerpoint/2010/main" val="1558865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42564-B5B9-E34E-C9A2-63CEC879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668DE-03CB-09E8-B87B-AF672B108C5B}"/>
              </a:ext>
            </a:extLst>
          </p:cNvPr>
          <p:cNvSpPr txBox="1"/>
          <p:nvPr/>
        </p:nvSpPr>
        <p:spPr>
          <a:xfrm>
            <a:off x="666180" y="1223809"/>
            <a:ext cx="9361040" cy="1879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Most predictors are demographic, lifestyle, MRI, or </a:t>
            </a:r>
            <a:r>
              <a:rPr lang="vi-VN" dirty="0"/>
              <a:t>cerebrospinal fluid</a:t>
            </a:r>
            <a:r>
              <a:rPr lang="en-US" dirty="0"/>
              <a:t> based.​</a:t>
            </a:r>
          </a:p>
          <a:p>
            <a:pPr>
              <a:lnSpc>
                <a:spcPct val="150000"/>
              </a:lnSpc>
            </a:pPr>
            <a:r>
              <a:rPr lang="en-US" dirty="0"/>
              <a:t>These are costly, invasive, or difficult to repeat frequently.</a:t>
            </a:r>
          </a:p>
          <a:p>
            <a:pPr>
              <a:lnSpc>
                <a:spcPct val="150000"/>
              </a:lnSpc>
            </a:pPr>
            <a:r>
              <a:rPr lang="en-US" dirty="0"/>
              <a:t>Need low‑cost, functional biomarkers that can track network stability and recovery.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38310A-5F64-FEE3-B200-CA78048AB575}"/>
              </a:ext>
            </a:extLst>
          </p:cNvPr>
          <p:cNvSpPr txBox="1"/>
          <p:nvPr/>
        </p:nvSpPr>
        <p:spPr>
          <a:xfrm>
            <a:off x="378148" y="324247"/>
            <a:ext cx="9145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Limitations of current predictors</a:t>
            </a:r>
          </a:p>
        </p:txBody>
      </p:sp>
    </p:spTree>
    <p:extLst>
      <p:ext uri="{BB962C8B-B14F-4D97-AF65-F5344CB8AC3E}">
        <p14:creationId xmlns:p14="http://schemas.microsoft.com/office/powerpoint/2010/main" val="1878822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FDC78-55B6-D9BA-B77D-FB78F674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13B415-A637-7891-22CB-46292482582D}"/>
              </a:ext>
            </a:extLst>
          </p:cNvPr>
          <p:cNvSpPr txBox="1"/>
          <p:nvPr/>
        </p:nvSpPr>
        <p:spPr>
          <a:xfrm>
            <a:off x="738188" y="1332359"/>
            <a:ext cx="9145016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dirty="0"/>
              <a:t>ERPs capture millisecond‑level sensory and attention processing (N1, P2, N2,</a:t>
            </a:r>
            <a:br>
              <a:rPr lang="vi-VN" dirty="0"/>
            </a:br>
            <a:r>
              <a:rPr lang="vi-VN" dirty="0"/>
              <a:t> P3).​</a:t>
            </a:r>
          </a:p>
          <a:p>
            <a:pPr>
              <a:lnSpc>
                <a:spcPct val="150000"/>
              </a:lnSpc>
            </a:pPr>
            <a:r>
              <a:rPr lang="vi-VN" dirty="0"/>
              <a:t>Previous research on prefrontal ERP work: increased variability and asymmetry in MCI vs CN using a 2‑channel device.​</a:t>
            </a:r>
          </a:p>
          <a:p>
            <a:pPr>
              <a:lnSpc>
                <a:spcPct val="150000"/>
              </a:lnSpc>
            </a:pPr>
            <a:r>
              <a:rPr lang="vi-VN" dirty="0"/>
              <a:t>Existing ERP studies are mostly cross‑sectional (MCI vs CN); almost none </a:t>
            </a:r>
            <a:br>
              <a:rPr lang="vi-VN" dirty="0"/>
            </a:br>
            <a:r>
              <a:rPr lang="vi-VN" dirty="0"/>
              <a:t>stratify StableMCI vs RevertedMCI or model variability slopes over time.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20FB3-ECB3-8069-BACF-97225F9B40A9}"/>
              </a:ext>
            </a:extLst>
          </p:cNvPr>
          <p:cNvSpPr txBox="1"/>
          <p:nvPr/>
        </p:nvSpPr>
        <p:spPr>
          <a:xfrm>
            <a:off x="522164" y="324247"/>
            <a:ext cx="534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ERPs and current research gap</a:t>
            </a:r>
          </a:p>
        </p:txBody>
      </p:sp>
    </p:spTree>
    <p:extLst>
      <p:ext uri="{BB962C8B-B14F-4D97-AF65-F5344CB8AC3E}">
        <p14:creationId xmlns:p14="http://schemas.microsoft.com/office/powerpoint/2010/main" val="1389569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7390-5C82-DC63-87BF-A8D1E1860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3EDD41-D0FE-00DB-362D-B312E72FA27D}"/>
              </a:ext>
            </a:extLst>
          </p:cNvPr>
          <p:cNvSpPr txBox="1"/>
          <p:nvPr/>
        </p:nvSpPr>
        <p:spPr>
          <a:xfrm>
            <a:off x="738188" y="1332359"/>
            <a:ext cx="9145016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Do longitudinal trajectories of sensory and attention ERP markers differ </a:t>
            </a:r>
            <a:br>
              <a:rPr lang="vi-VN" dirty="0"/>
            </a:br>
            <a:r>
              <a:rPr lang="vi-VN" dirty="0"/>
              <a:t>between StableMCI (MCI→MCI) and RevertedMCI (MCI→CN)?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Focus on amplitude, latency, intra‑individual variability (Amplitude Variance </a:t>
            </a:r>
            <a:br>
              <a:rPr lang="vi-VN" dirty="0"/>
            </a:br>
            <a:r>
              <a:rPr lang="vi-VN" dirty="0"/>
              <a:t>(AMPV), Area-Under-Curve Variance (AUCV), Response Variance Curve </a:t>
            </a:r>
            <a:br>
              <a:rPr lang="vi-VN" dirty="0"/>
            </a:br>
            <a:r>
              <a:rPr lang="vi-VN" dirty="0"/>
              <a:t>(RVC)</a:t>
            </a:r>
            <a:br>
              <a:rPr lang="vi-VN" dirty="0"/>
            </a:br>
            <a:r>
              <a:rPr lang="vi-VN" dirty="0"/>
              <a:t>and prefrontal asymmetry.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Hypothesis: RevertedMCI shows “normalization” of ERP </a:t>
            </a:r>
            <a:br>
              <a:rPr lang="vi-VN" dirty="0"/>
            </a:br>
            <a:r>
              <a:rPr lang="vi-VN" dirty="0"/>
              <a:t>variability/asymmetry; StableMCI shows persistent or worsening instability.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C3D06-86CD-44F5-E52D-558370E6835C}"/>
              </a:ext>
            </a:extLst>
          </p:cNvPr>
          <p:cNvSpPr txBox="1"/>
          <p:nvPr/>
        </p:nvSpPr>
        <p:spPr>
          <a:xfrm>
            <a:off x="522164" y="396255"/>
            <a:ext cx="534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664985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28BE6-999E-6578-AD85-0F386DFD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D866F6-0692-CA62-E3FB-32A90DB9B0F8}"/>
              </a:ext>
            </a:extLst>
          </p:cNvPr>
          <p:cNvSpPr txBox="1"/>
          <p:nvPr/>
        </p:nvSpPr>
        <p:spPr>
          <a:xfrm>
            <a:off x="666180" y="972319"/>
            <a:ext cx="9145016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Longitudinal observational cohort; ≥2 ERP visits per subject.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Baseline: all participants diagnosed with MCI by SNSB/MMSE criteria.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Groups:</a:t>
            </a:r>
          </a:p>
          <a:p>
            <a:pPr marL="840745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dirty="0"/>
              <a:t>StableMCI: MCI at baseline and last follow‑up.</a:t>
            </a:r>
          </a:p>
          <a:p>
            <a:pPr marL="840745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dirty="0"/>
              <a:t>RevertedMCI: MCI→CN at last follow‑up.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1AAD4-E51B-A2C3-C831-C7997A9532E6}"/>
              </a:ext>
            </a:extLst>
          </p:cNvPr>
          <p:cNvSpPr txBox="1"/>
          <p:nvPr/>
        </p:nvSpPr>
        <p:spPr>
          <a:xfrm>
            <a:off x="522164" y="324247"/>
            <a:ext cx="534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Study design </a:t>
            </a:r>
          </a:p>
        </p:txBody>
      </p:sp>
    </p:spTree>
    <p:extLst>
      <p:ext uri="{BB962C8B-B14F-4D97-AF65-F5344CB8AC3E}">
        <p14:creationId xmlns:p14="http://schemas.microsoft.com/office/powerpoint/2010/main" val="4082264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181B0-6A8F-4F04-C0B6-56F58AE41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24A5C-9118-FA89-0134-51028F99C43F}"/>
              </a:ext>
            </a:extLst>
          </p:cNvPr>
          <p:cNvSpPr txBox="1"/>
          <p:nvPr/>
        </p:nvSpPr>
        <p:spPr>
          <a:xfrm>
            <a:off x="666180" y="972319"/>
            <a:ext cx="9145016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Longitudinal observational cohort; ≥2 ERP visits per subject.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Baseline: all participants diagnosed with MCI by SNSB/MMSE criteria.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Groups:</a:t>
            </a:r>
          </a:p>
          <a:p>
            <a:pPr marL="840745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dirty="0"/>
              <a:t>StableMCI: MCI at baseline and last follow‑up.</a:t>
            </a:r>
          </a:p>
          <a:p>
            <a:pPr marL="840745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dirty="0"/>
              <a:t>RevertedMCI: MCI→CN at last follow‑up.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E808A-8CCF-601D-60F0-5211B7E47102}"/>
              </a:ext>
            </a:extLst>
          </p:cNvPr>
          <p:cNvSpPr txBox="1"/>
          <p:nvPr/>
        </p:nvSpPr>
        <p:spPr>
          <a:xfrm>
            <a:off x="522164" y="324247"/>
            <a:ext cx="534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Study design </a:t>
            </a:r>
          </a:p>
        </p:txBody>
      </p:sp>
    </p:spTree>
    <p:extLst>
      <p:ext uri="{BB962C8B-B14F-4D97-AF65-F5344CB8AC3E}">
        <p14:creationId xmlns:p14="http://schemas.microsoft.com/office/powerpoint/2010/main" val="1014319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0FA9F-D016-6661-F099-7CAE49D0B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F8AE91-F286-8890-74EB-AAD5F5C76AC6}"/>
              </a:ext>
            </a:extLst>
          </p:cNvPr>
          <p:cNvSpPr txBox="1"/>
          <p:nvPr/>
        </p:nvSpPr>
        <p:spPr>
          <a:xfrm>
            <a:off x="666180" y="972319"/>
            <a:ext cx="9145016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Same two‑channel prefrontal sensory and attention paradigms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Sensory task: repetitive stimulation, early exogenous components (N1/P2) </a:t>
            </a:r>
            <a:br>
              <a:rPr lang="vi-VN" dirty="0"/>
            </a:br>
            <a:r>
              <a:rPr lang="vi-VN" dirty="0"/>
              <a:t>and variability.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Attention oddball: target vs non‑target tones, N2/P3, variability and Fp1–Fp2 asymmetry.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Preprocessing: baseline centering, 0.5–30 Hz band‑pass, notch filter, </a:t>
            </a:r>
            <a:br>
              <a:rPr lang="vi-VN" dirty="0"/>
            </a:br>
            <a:r>
              <a:rPr lang="vi-VN" dirty="0"/>
              <a:t>re‑referencing, ICA artifact removal, epoching, baseline correction.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92726-68D7-8D76-C6C0-2F23B0D84E9C}"/>
              </a:ext>
            </a:extLst>
          </p:cNvPr>
          <p:cNvSpPr txBox="1"/>
          <p:nvPr/>
        </p:nvSpPr>
        <p:spPr>
          <a:xfrm>
            <a:off x="522164" y="324247"/>
            <a:ext cx="534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ERP tasks and preprocessing</a:t>
            </a:r>
          </a:p>
        </p:txBody>
      </p:sp>
    </p:spTree>
    <p:extLst>
      <p:ext uri="{BB962C8B-B14F-4D97-AF65-F5344CB8AC3E}">
        <p14:creationId xmlns:p14="http://schemas.microsoft.com/office/powerpoint/2010/main" val="2631418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430EF-5619-49CD-A2B5-8E229099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958AC5-5906-BEFD-D75C-5C6192A48495}"/>
              </a:ext>
            </a:extLst>
          </p:cNvPr>
          <p:cNvSpPr txBox="1"/>
          <p:nvPr/>
        </p:nvSpPr>
        <p:spPr>
          <a:xfrm>
            <a:off x="666180" y="972319"/>
            <a:ext cx="9145016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Classical: N100, P200, N200, P300 amplitudes and latencies at Fp1/Fp2 </a:t>
            </a:r>
            <a:br>
              <a:rPr lang="vi-VN" dirty="0"/>
            </a:br>
            <a:r>
              <a:rPr lang="vi-VN" dirty="0"/>
              <a:t>and midline.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Variability: response variance curves, AMPV and AUCV in early and late </a:t>
            </a:r>
            <a:br>
              <a:rPr lang="vi-VN" dirty="0"/>
            </a:br>
            <a:r>
              <a:rPr lang="vi-VN" dirty="0"/>
              <a:t>windows for each condition.​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Asymmetry: Fp2–Fp1 differences for amplitudes and variability (variability </a:t>
            </a:r>
            <a:br>
              <a:rPr lang="vi-VN" dirty="0"/>
            </a:br>
            <a:r>
              <a:rPr lang="vi-VN" dirty="0"/>
              <a:t>asymmetry).​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Behavioral: accuracy, errors, reaction time.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00864-6199-933A-DADC-D8E1ECE454D1}"/>
              </a:ext>
            </a:extLst>
          </p:cNvPr>
          <p:cNvSpPr txBox="1"/>
          <p:nvPr/>
        </p:nvSpPr>
        <p:spPr>
          <a:xfrm>
            <a:off x="522164" y="324247"/>
            <a:ext cx="534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Feature extraction</a:t>
            </a:r>
          </a:p>
        </p:txBody>
      </p:sp>
    </p:spTree>
    <p:extLst>
      <p:ext uri="{BB962C8B-B14F-4D97-AF65-F5344CB8AC3E}">
        <p14:creationId xmlns:p14="http://schemas.microsoft.com/office/powerpoint/2010/main" val="125510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A8D6C-693B-2542-6412-EC2FAE414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20808F-8C12-35CC-6C70-B22119ADF9E2}"/>
              </a:ext>
            </a:extLst>
          </p:cNvPr>
          <p:cNvSpPr txBox="1"/>
          <p:nvPr/>
        </p:nvSpPr>
        <p:spPr>
          <a:xfrm>
            <a:off x="666180" y="992976"/>
            <a:ext cx="9145016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Baseline: compare RevertedMCI vs StableMCI on demographics, cognition, and key ERP markers (t‑tests/ANCOVA with covariates).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Longitudinal: linear mixed‑effects models for each ERP marker:</a:t>
            </a:r>
          </a:p>
          <a:p>
            <a:pPr lvl="1">
              <a:lnSpc>
                <a:spcPct val="150000"/>
              </a:lnSpc>
            </a:pPr>
            <a:r>
              <a:rPr lang="vi-VN" dirty="0"/>
              <a:t>marker ~ elapsed_years * Groups + age + sex + education </a:t>
            </a:r>
          </a:p>
          <a:p>
            <a:pPr lvl="1">
              <a:lnSpc>
                <a:spcPct val="150000"/>
              </a:lnSpc>
            </a:pPr>
            <a:r>
              <a:rPr lang="vi-VN" dirty="0">
                <a:solidFill>
                  <a:schemeClr val="accent1"/>
                </a:solidFill>
              </a:rPr>
              <a:t>+ (1 + elapsed_years | subject).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Use LME functions (adapt biavars → erp_vars; groupvar → Change_Type)</a:t>
            </a:r>
            <a:br>
              <a:rPr lang="vi-VN" dirty="0"/>
            </a:br>
            <a:r>
              <a:rPr lang="vi-VN" dirty="0"/>
              <a:t> to extract slopes, interaction p‑values, and effect sizes.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AB12C-709A-A11B-5F04-DB6F1A0AB1CB}"/>
              </a:ext>
            </a:extLst>
          </p:cNvPr>
          <p:cNvSpPr txBox="1"/>
          <p:nvPr/>
        </p:nvSpPr>
        <p:spPr>
          <a:xfrm>
            <a:off x="522164" y="324247"/>
            <a:ext cx="7272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Baseline and longitudinal analysis</a:t>
            </a:r>
          </a:p>
        </p:txBody>
      </p:sp>
    </p:spTree>
    <p:extLst>
      <p:ext uri="{BB962C8B-B14F-4D97-AF65-F5344CB8AC3E}">
        <p14:creationId xmlns:p14="http://schemas.microsoft.com/office/powerpoint/2010/main" val="1981573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8394E-5629-2608-C5E8-ABDF6EA58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B78E94-15D7-961A-43BA-D75B3BA7C6B8}"/>
              </a:ext>
            </a:extLst>
          </p:cNvPr>
          <p:cNvSpPr txBox="1"/>
          <p:nvPr/>
        </p:nvSpPr>
        <p:spPr>
          <a:xfrm>
            <a:off x="684182" y="1188343"/>
            <a:ext cx="9325036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074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RevertedMCI: decreasing variability/asymmetry, faster P300 latency over time.</a:t>
            </a:r>
          </a:p>
          <a:p>
            <a:pPr marL="84074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StableMCI: stable or increasing variability, persistent slowing.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73085-6180-3955-CCB2-E3D689320479}"/>
              </a:ext>
            </a:extLst>
          </p:cNvPr>
          <p:cNvSpPr txBox="1"/>
          <p:nvPr/>
        </p:nvSpPr>
        <p:spPr>
          <a:xfrm>
            <a:off x="522164" y="324247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Expected findings</a:t>
            </a:r>
          </a:p>
          <a:p>
            <a:endParaRPr lang="vi-VN" b="1" dirty="0"/>
          </a:p>
        </p:txBody>
      </p:sp>
    </p:spTree>
    <p:extLst>
      <p:ext uri="{BB962C8B-B14F-4D97-AF65-F5344CB8AC3E}">
        <p14:creationId xmlns:p14="http://schemas.microsoft.com/office/powerpoint/2010/main" val="112184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4734" y="2700511"/>
            <a:ext cx="8215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i="0" dirty="0">
                <a:solidFill>
                  <a:schemeClr val="tx2"/>
                </a:solidFill>
                <a:effectLst/>
                <a:latin typeface="fkGrotesk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975736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1567</TotalTime>
  <Words>749</Words>
  <Application>Microsoft Office PowerPoint</Application>
  <PresentationFormat>Custom</PresentationFormat>
  <Paragraphs>60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맑은 고딕</vt:lpstr>
      <vt:lpstr>Arial</vt:lpstr>
      <vt:lpstr>Courier New</vt:lpstr>
      <vt:lpstr>fkGrotesk</vt:lpstr>
      <vt:lpstr>HY견고딕</vt:lpstr>
      <vt:lpstr>HY중고딕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XP SP3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Minh Tran</cp:lastModifiedBy>
  <cp:revision>71</cp:revision>
  <cp:lastPrinted>2012-01-03T07:03:32Z</cp:lastPrinted>
  <dcterms:created xsi:type="dcterms:W3CDTF">2011-12-29T06:45:05Z</dcterms:created>
  <dcterms:modified xsi:type="dcterms:W3CDTF">2025-12-01T23:52:02Z</dcterms:modified>
</cp:coreProperties>
</file>